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  <p:embeddedFont>
      <p:font typeface="Space Grotes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WWuL/sbs8fr5H2lgzyiiAyXUm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86FFB8-3E42-45FF-9B68-CFF3F6C0D624}">
  <a:tblStyle styleId="{9086FFB8-3E42-45FF-9B68-CFF3F6C0D6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28" Type="http://schemas.openxmlformats.org/officeDocument/2006/relationships/font" Target="fonts/SpaceGrotesk-bold.fntdata"/><Relationship Id="rId27" Type="http://schemas.openxmlformats.org/officeDocument/2006/relationships/font" Target="fonts/SpaceGrotes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17.png"/><Relationship Id="rId13" Type="http://schemas.openxmlformats.org/officeDocument/2006/relationships/image" Target="../media/image23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9" Type="http://schemas.openxmlformats.org/officeDocument/2006/relationships/image" Target="../media/image32.png"/><Relationship Id="rId5" Type="http://schemas.openxmlformats.org/officeDocument/2006/relationships/image" Target="../media/image7.png"/><Relationship Id="rId6" Type="http://schemas.openxmlformats.org/officeDocument/2006/relationships/image" Target="../media/image31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9" Type="http://schemas.openxmlformats.org/officeDocument/2006/relationships/image" Target="../media/image46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5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9.png"/><Relationship Id="rId9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39.png"/><Relationship Id="rId7" Type="http://schemas.openxmlformats.org/officeDocument/2006/relationships/image" Target="../media/image51.png"/><Relationship Id="rId8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1075" y="2018407"/>
            <a:ext cx="26098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6612" y="4334767"/>
            <a:ext cx="543877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3995737" y="2599432"/>
            <a:ext cx="4200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QuanLyTinBai AI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047875" y="3382267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Hệ thống Quản lý Quy trình Biên tập Tòa soạn &amp; Luồng tin bài Thông minh Tích hợp Trợ lý AI Cục bộ (Newsflow Manager)</a:t>
            </a:r>
            <a:endParaRPr/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1100" y="2132707"/>
            <a:ext cx="147637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2837" y="4515742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871912" y="4496692"/>
            <a:ext cx="1228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Tác giả: </a:t>
            </a: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Tạ Anh Tài</a:t>
            </a:r>
            <a:endParaRPr/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29237" y="4515742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5586412" y="4496692"/>
            <a:ext cx="2952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Đơn vị: </a:t>
            </a: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Phòng PX03 - Công an tỉnh Đắk Lắk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170807"/>
            <a:ext cx="21336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2465546" y="2751832"/>
            <a:ext cx="7260907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Vấn Đề &amp; Mục Tiêu Giải Pháp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286000" y="4016722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Số hóa và tối ưu hóa quy trình tòa soạn báo chí, truyền thông thông minh trong kỷ nguyên Trí tuệ nhân tạo</a:t>
            </a:r>
            <a:endParaRPr/>
          </a:p>
        </p:txBody>
      </p:sp>
      <p:pic>
        <p:nvPicPr>
          <p:cNvPr descr="image.png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9225" y="2285107"/>
            <a:ext cx="147637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72903"/>
            <a:ext cx="5372100" cy="3009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72903"/>
            <a:ext cx="5372100" cy="300915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Thực Trạng &amp; Bất Cập Tòa Soạn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266825" y="2587228"/>
            <a:ext cx="45905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Quy Trình Truyền Thống Cồng Kềnh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924675" y="2587228"/>
            <a:ext cx="45905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Thiếu Công Cụ Hỗ Trợ AI Cục Bộ</a:t>
            </a:r>
            <a:endParaRPr/>
          </a:p>
        </p:txBody>
      </p:sp>
      <p:pic>
        <p:nvPicPr>
          <p:cNvPr descr="image.png" id="114" name="Google Shape;1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2609998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23950" y="3013918"/>
            <a:ext cx="4514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Luồng duyệt bài phân tán qua Zalo, Email, file Word gây trễ tiến độ xuất bản.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123950" y="3665190"/>
            <a:ext cx="4514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Nguy cơ rò rỉ dữ liệu tài liệu báo chí nhạy cảm khi gửi qua các nền tảng chat bên thứ ba.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123950" y="4316462"/>
            <a:ext cx="4514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Thao tác phân loại tin bài thủ công giữa CTV, BTV và Thư ký tòa soạn thiếu tính nhất quán.</a:t>
            </a:r>
            <a:endParaRPr/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3200" y="2609998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6781800" y="3013918"/>
            <a:ext cx="4514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Thiếu công cụ cộng tác thời gian thực và theo dõi vết chỉnh sửa bản thảo trực tiếp.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781800" y="3665190"/>
            <a:ext cx="4514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Tốn nhiều thời gian cho việc sửa lỗi chính tả, đặt tiêu đề, tóm tắt Sapo và gắn thẻ (tags).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781800" y="4316462"/>
            <a:ext cx="4514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Nguy cơ lọt lộ thông tin cá nhân (CCCD, SĐT, biển số xe) và sai quy chuẩn ngôn luận.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95350" y="2975818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895350" y="362709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95350" y="427836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553200" y="2975818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6553200" y="362709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6553200" y="4278362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Mục Tiêu &amp; Sứ Mệnh Giải Pháp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81025" y="1967805"/>
            <a:ext cx="564070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Giải pháp Newsflow Manager mang lại: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847725" y="2432595"/>
            <a:ext cx="51054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Số hóa toàn diện: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Xây dựng nền tảng quản lý tòa soạn chuẩn mực trên nền React.js, Express và MSSQL.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847725" y="3102917"/>
            <a:ext cx="5105400" cy="491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Chuẩn hóa tác nghiệp: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Luồng duyệt khép kín CTV → Biên tập viên →Thư ký / Lãnh đạo phê duyệt.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847725" y="3773239"/>
            <a:ext cx="51054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Trợ lý AI thông minh: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Giúp biên tập viên rút ngắn 50% thời gian xử lý và nâng cao chất lượng nội dung.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847725" y="4443561"/>
            <a:ext cx="51054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Bảo mật On-Premise: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Vận hành mô hình AI cục bộ, đáp ứng tiêu chuẩn an ninh mạng cơ quan nhà nước.</a:t>
            </a:r>
            <a:endParaRPr/>
          </a:p>
        </p:txBody>
      </p:sp>
      <p:pic>
        <p:nvPicPr>
          <p:cNvPr descr="image.png" id="140" name="Google Shape;1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069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4101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11339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81661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113835"/>
            <a:ext cx="5010150" cy="2630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206" y="2170807"/>
            <a:ext cx="2033587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1905476" y="2751832"/>
            <a:ext cx="8381047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Tổng Quan Giải Pháp &amp; AI Cục Bộ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2286000" y="4016722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Kết hợp giữa quản lý luồng công việc phân quyền RBAC và các trợ lý AI ngôn ngữ tự nhiên chạy On-Premise</a:t>
            </a:r>
            <a:endParaRPr/>
          </a:p>
        </p:txBody>
      </p:sp>
      <p:pic>
        <p:nvPicPr>
          <p:cNvPr descr="image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9231" y="2285107"/>
            <a:ext cx="166687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23529"/>
            <a:ext cx="2614612" cy="2507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2523529"/>
            <a:ext cx="2614612" cy="2507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523529"/>
            <a:ext cx="2614612" cy="2507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6362" y="2523529"/>
            <a:ext cx="2614612" cy="250790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 Module Trợ Lý AI Cục Bộ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76165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819150" y="3409354"/>
            <a:ext cx="224528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Trợ Lý Biên Tập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819150" y="3721744"/>
            <a:ext cx="2138362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Tự động soát lỗi chính tả, chuẩn hóa văn phong báo chí, gợi ý 5 phương án tiêu đề và viết đoạn tóm tắt Sapo nhanh chóng.</a:t>
            </a:r>
            <a:endParaRPr/>
          </a:p>
        </p:txBody>
      </p:sp>
      <p:pic>
        <p:nvPicPr>
          <p:cNvPr descr="image.png" id="168" name="Google Shape;16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24262" y="276165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3624262" y="3409354"/>
            <a:ext cx="224528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Phân Loại &amp; Gắn Tag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3624262" y="3721744"/>
            <a:ext cx="213836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Tự đọc hiểu bài viết, gợi ý chính xác chuyên mục (ANTT, AN247...) và trích xuất thực thể (tên, địa danh) làm thẻ tag.</a:t>
            </a:r>
            <a:endParaRPr/>
          </a:p>
        </p:txBody>
      </p:sp>
      <p:pic>
        <p:nvPicPr>
          <p:cNvPr descr="image.png" id="171" name="Google Shape;17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276165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 txBox="1"/>
          <p:nvPr/>
        </p:nvSpPr>
        <p:spPr>
          <a:xfrm>
            <a:off x="6429375" y="3409354"/>
            <a:ext cx="224528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Rà Soát Bảo Mặt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6429375" y="3721744"/>
            <a:ext cx="213836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Quét mẫu nhận diện số CCCD, SĐT, biển số xe và phân tích từ ngữ nhạy cảm vi phạm quy chuẩn biên tập trước khi gửi.</a:t>
            </a:r>
            <a:endParaRPr/>
          </a:p>
        </p:txBody>
      </p:sp>
      <p:pic>
        <p:nvPicPr>
          <p:cNvPr descr="image.png" id="174" name="Google Shape;1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34487" y="276165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/>
          <p:nvPr/>
        </p:nvSpPr>
        <p:spPr>
          <a:xfrm>
            <a:off x="9234487" y="3409354"/>
            <a:ext cx="224528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 Cứu RAG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9234487" y="3721744"/>
            <a:ext cx="213836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Nạp Luật Báo chí &amp; quy chế nội bộ vào kho tri thức. Hỏi - đáp chính xác có trích dẫn nguồn, không tự suy diễn.</a:t>
            </a:r>
            <a:endParaRPr/>
          </a:p>
        </p:txBody>
      </p:sp>
      <p:pic>
        <p:nvPicPr>
          <p:cNvPr descr="image.png" id="177" name="Google Shape;17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289500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57612" y="289500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2725" y="289500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2125" y="2895004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581025" y="485775"/>
            <a:ext cx="5790723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Luồng Biên Tập Đa Cấp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581025" y="2592883"/>
            <a:ext cx="55149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Quy trình xử lý tin bài chặt chẽ và tính năng cộng tác trực tiếp:</a:t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809625" y="3042344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Phân quyền RBAC rõ ràng: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CTV sáng tác, Biên tập viên phân loại, Thư ký chọn chuyên mục duyệt xuất bản.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809625" y="3682305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Cộng tác Real-time: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Tích hợp Google Docs API &amp; React-Quill cho phép nhiều BTV cùng sửa bản thảo.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809625" y="4322266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Nguyên tắc Con người Quyết định: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AI chỉ đưa ra gợi ý/cảnh báo, BTV hoàn toàn làm chủ quyết định cuối cùng.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581025" y="3042344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581025" y="368230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581025" y="4322266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pic>
        <p:nvPicPr>
          <p:cNvPr descr="Biên tập Lồng tiếng Phim Lưu Bá Ôn | PDF"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025" y="1917577"/>
            <a:ext cx="5286375" cy="374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53444"/>
            <a:ext cx="4191297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2943969"/>
            <a:ext cx="3410247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Kết Quả Thử Nghiệm Thực Tế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971550" y="4134594"/>
            <a:ext cx="34102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Giảm Thời Gian Trung Bình Xử Lý Tin Bài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5153322" y="2254001"/>
            <a:ext cx="6780534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Hiệu Quả Vận Hành Thực Tế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5153322" y="2619672"/>
            <a:ext cx="645765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Sản phẩm đã hoàn thiện bản Demo nâng cao và triển khai thử nghiệm nội bộ đạt kết quả vượt trội:</a:t>
            </a:r>
            <a:endParaRPr/>
          </a:p>
        </p:txBody>
      </p:sp>
      <p:pic>
        <p:nvPicPr>
          <p:cNvPr descr="image.png" id="208" name="Google Shape;2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3322" y="227305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 txBox="1"/>
          <p:nvPr/>
        </p:nvSpPr>
        <p:spPr>
          <a:xfrm>
            <a:off x="5420022" y="3289994"/>
            <a:ext cx="619095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Tin bài lưu vết: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Toàn bộ quy trình chỉnh sửa, phê duyệt và nhật ký thao tác đều được ghi lại minh bạch.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5420022" y="3960316"/>
            <a:ext cx="619095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&gt;90% Độ hài lòng: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Đánh giá cao từ biên tập viên đối với trợ lý AI gợi ý tiêu đề, tóm tắt và soát lỗi.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5420022" y="4630638"/>
            <a:ext cx="619095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Tối ưu chi phí: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Vận hành AI cục bộ (Ollama) không phát sinh phí API đám mây theo lượt gọi.</a:t>
            </a:r>
            <a:endParaRPr/>
          </a:p>
        </p:txBody>
      </p:sp>
      <p:pic>
        <p:nvPicPr>
          <p:cNvPr descr="image.png" id="212" name="Google Shape;21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3322" y="3328094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3322" y="3998416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3322" y="4668738"/>
            <a:ext cx="14287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26158"/>
            <a:ext cx="11029950" cy="330279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Công Nghệ &amp; Nền Tảng Kỹ Thuật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9"/>
          <p:cNvGraphicFramePr/>
          <p:nvPr/>
        </p:nvGraphicFramePr>
        <p:xfrm>
          <a:off x="590550" y="21356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{9086FFB8-3E42-45FF-9B68-CFF3F6C0D624}</a:tableStyleId>
              </a:tblPr>
              <a:tblGrid>
                <a:gridCol w="1453600"/>
                <a:gridCol w="3266025"/>
                <a:gridCol w="6291250"/>
              </a:tblGrid>
              <a:tr h="65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Thành Phần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Công Nghệ Sử Dụng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Vai Trò &amp; Đặc Điểm Nổi Bật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React 18, Vite, TailwindCSS, React-Quill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Giao diện SPA mượt mà, hỗ trợ Dark/Light Mode, tích hợp trình soạn thảo Rich Text.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5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Node.js Express (RESTful API)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Xử lý logic luồng công việc, xác thực JWT, mã hóa mật khẩu bcrypt, tích hợp Socket.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Microsoft SQL Server (MSSQL)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Đảm bảo tính toàn vẹn dữ liệu, hiệu năng cao, tối ưu hạ tầng sẵn có của CQNN.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5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Tầng AI Cục Bộ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Ollama (qwen2.5 &amp; nomic-embed-text)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Chạy On-Premise 100%, bảo mật dữ liệu tuyệt đối, hỗ trợ tra cứu RAG thuần JS.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9"/>
          <p:cNvSpPr/>
          <p:nvPr/>
        </p:nvSpPr>
        <p:spPr>
          <a:xfrm>
            <a:off x="590550" y="2704207"/>
            <a:ext cx="14536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044154" y="2704207"/>
            <a:ext cx="32660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310187" y="2704207"/>
            <a:ext cx="6291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90550" y="3262312"/>
            <a:ext cx="14536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044154" y="3262312"/>
            <a:ext cx="32660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310187" y="3262312"/>
            <a:ext cx="6291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90550" y="4064198"/>
            <a:ext cx="14536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044154" y="4064198"/>
            <a:ext cx="32660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310187" y="4064198"/>
            <a:ext cx="6291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90550" y="4622303"/>
            <a:ext cx="14536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2044154" y="4622303"/>
            <a:ext cx="32660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310187" y="4622303"/>
            <a:ext cx="6291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Lộ Trình Triển Khai &amp; Mở Rộng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132570" y="3953767"/>
            <a:ext cx="9926859" cy="285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0896" y="31185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1324213" y="3975794"/>
            <a:ext cx="940117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Giai Đoạn 1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581025" y="4257675"/>
            <a:ext cx="2426493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Hoàn thiện Demo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Thử nghiệm nội bộ, hoàn thiện REST API &amp; Module AI.</a:t>
            </a:r>
            <a:endParaRPr/>
          </a:p>
        </p:txBody>
      </p:sp>
      <p:pic>
        <p:nvPicPr>
          <p:cNvPr descr="image.png" id="247" name="Google Shape;2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8666" y="31185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 txBox="1"/>
          <p:nvPr/>
        </p:nvSpPr>
        <p:spPr>
          <a:xfrm>
            <a:off x="4176980" y="3975794"/>
            <a:ext cx="970121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Giai Đoạn 2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3448794" y="4257675"/>
            <a:ext cx="2426493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Triển khai Đắk Lắk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Áp dụng tại Cổng TTĐT, Công an tỉnh &amp; các sở ban ngành.</a:t>
            </a:r>
            <a:endParaRPr/>
          </a:p>
        </p:txBody>
      </p:sp>
      <p:pic>
        <p:nvPicPr>
          <p:cNvPr descr="image.png" id="250" name="Google Shape;25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6435" y="31185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 txBox="1"/>
          <p:nvPr/>
        </p:nvSpPr>
        <p:spPr>
          <a:xfrm>
            <a:off x="7044749" y="3975794"/>
            <a:ext cx="970121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Giai Đoạn 3</a:t>
            </a:r>
            <a:endParaRPr/>
          </a:p>
        </p:txBody>
      </p:sp>
      <p:sp>
        <p:nvSpPr>
          <p:cNvPr id="252" name="Google Shape;252;p10"/>
          <p:cNvSpPr txBox="1"/>
          <p:nvPr/>
        </p:nvSpPr>
        <p:spPr>
          <a:xfrm>
            <a:off x="6316563" y="4257675"/>
            <a:ext cx="2426493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Đóng gói Docker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Chuẩn hóa containerization, tối ưu cài đặt trên VPS/Cloud.</a:t>
            </a:r>
            <a:endParaRPr/>
          </a:p>
        </p:txBody>
      </p:sp>
      <p:pic>
        <p:nvPicPr>
          <p:cNvPr descr="image.png" id="253" name="Google Shape;25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64204" y="31185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/>
        </p:nvSpPr>
        <p:spPr>
          <a:xfrm>
            <a:off x="9912518" y="3975794"/>
            <a:ext cx="970121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Giai Đoạn 4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9184332" y="4257675"/>
            <a:ext cx="2426493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Nhân rộng Toàn quốc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Tích hợp AI Gateway dùng chung cho các đơn vị báo chí.</a:t>
            </a:r>
            <a:endParaRPr/>
          </a:p>
        </p:txBody>
      </p:sp>
      <p:pic>
        <p:nvPicPr>
          <p:cNvPr descr="image.png" id="256" name="Google Shape;25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0921" y="3347144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1078" y="3347144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39322" y="3347144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07091" y="3347144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Giá Trị Kinh Tế - Xã Hội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81025" y="89713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81025" y="2512814"/>
            <a:ext cx="5419725" cy="1169491"/>
          </a:xfrm>
          <a:prstGeom prst="roundRect">
            <a:avLst>
              <a:gd fmla="val 977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1152525" y="2703314"/>
            <a:ext cx="4619625" cy="788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Tiết Kiệm Chi Phí &amp; Thời Gian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Cắt giảm giấy tờ, giảm thời gian họp duyệt bài, tận dụng hạ tầng VPS có sẵn mà không tốn ngân sách API.</a:t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191250" y="2512814"/>
            <a:ext cx="5419725" cy="1169491"/>
          </a:xfrm>
          <a:prstGeom prst="roundRect">
            <a:avLst>
              <a:gd fmla="val 977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6762750" y="2703314"/>
            <a:ext cx="4619625" cy="788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Toàn Thông Tin Tối Đa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Mô hình AI chạy cục bộ loại bỏ nguy cơ rò rỉ dữ liệu tài liệu báo chí và lộ thông tin cá nhân ra bản tin.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81025" y="3872805"/>
            <a:ext cx="5419725" cy="1169491"/>
          </a:xfrm>
          <a:prstGeom prst="roundRect">
            <a:avLst>
              <a:gd fmla="val 977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1152525" y="4063305"/>
            <a:ext cx="4619625" cy="788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Thúc Đẩy Chuyển Đổi Số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Nâng cao năng lực truyền thông báo chí tỉnh Đắk Lắk, đảm bảo thông tin tuyên truyền chính xác, kịp thời.</a:t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6191250" y="3872805"/>
            <a:ext cx="5419725" cy="1169491"/>
          </a:xfrm>
          <a:prstGeom prst="roundRect">
            <a:avLst>
              <a:gd fmla="val 977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6762750" y="4063305"/>
            <a:ext cx="4619625" cy="788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Dễ Dàng Nhân Rộng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Giữ nguyên quy trình nghiệp vụ quen thuộc, không tốn chi phí đào tạo lại người dùng, triển khai nhanh chóng.</a:t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81025" y="3672780"/>
            <a:ext cx="54197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191250" y="3672780"/>
            <a:ext cx="54197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81025" y="5032771"/>
            <a:ext cx="54197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191250" y="5032771"/>
            <a:ext cx="54197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2746176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746176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410616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4106167"/>
            <a:ext cx="266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2506" y="1967954"/>
            <a:ext cx="2566987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6562" y="4080420"/>
            <a:ext cx="6238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 txBox="1"/>
          <p:nvPr/>
        </p:nvSpPr>
        <p:spPr>
          <a:xfrm>
            <a:off x="3395662" y="2548979"/>
            <a:ext cx="5400675" cy="6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Trân Trọng Cảm Ơn!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2343150" y="3364259"/>
            <a:ext cx="7505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Hệ thống Quản lý Tin bài QuanLyTinBai AI — Giải pháp Báo chí Số Thông minh</a:t>
            </a:r>
            <a:endParaRPr/>
          </a:p>
        </p:txBody>
      </p:sp>
      <p:pic>
        <p:nvPicPr>
          <p:cNvPr descr="image.png" id="292" name="Google Shape;29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2531" y="2082254"/>
            <a:ext cx="109537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2337" y="438998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 txBox="1"/>
          <p:nvPr/>
        </p:nvSpPr>
        <p:spPr>
          <a:xfrm>
            <a:off x="3748087" y="4375695"/>
            <a:ext cx="752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Tạ Anh Tài</a:t>
            </a:r>
            <a:endParaRPr/>
          </a:p>
        </p:txBody>
      </p:sp>
      <p:pic>
        <p:nvPicPr>
          <p:cNvPr descr="image.png" id="295" name="Google Shape;29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81562" y="438998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 txBox="1"/>
          <p:nvPr/>
        </p:nvSpPr>
        <p:spPr>
          <a:xfrm>
            <a:off x="5186362" y="4375695"/>
            <a:ext cx="1762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anhtaictv@gmail.com</a:t>
            </a:r>
            <a:endParaRPr/>
          </a:p>
        </p:txBody>
      </p:sp>
      <p:pic>
        <p:nvPicPr>
          <p:cNvPr descr="image.png" id="297" name="Google Shape;29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29487" y="438998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2"/>
          <p:cNvSpPr txBox="1"/>
          <p:nvPr/>
        </p:nvSpPr>
        <p:spPr>
          <a:xfrm>
            <a:off x="7634287" y="4375695"/>
            <a:ext cx="1095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0943 247 997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